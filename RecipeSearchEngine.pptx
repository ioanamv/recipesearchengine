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410" r:id="rId5"/>
    <p:sldId id="383" r:id="rId6"/>
    <p:sldId id="414" r:id="rId7"/>
    <p:sldId id="412" r:id="rId8"/>
    <p:sldId id="415" r:id="rId9"/>
    <p:sldId id="417" r:id="rId10"/>
    <p:sldId id="418" r:id="rId11"/>
    <p:sldId id="420" r:id="rId12"/>
    <p:sldId id="419" r:id="rId13"/>
    <p:sldId id="42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AFBF-E807-D99B-8F77-53C88C8B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E3369-7984-EB7A-208C-9BCDD80A7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38B59-8CE2-E493-F3E5-D2B950BF8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04BBC-35B1-C6D6-E80C-DE7C79C71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1B41-55F6-3B73-7944-A0FB0169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71245-D578-C6EB-3048-18F541827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ECBD4-DD35-9BD8-D844-F8149AF30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DD7DD-3901-1514-8A18-A40FA9D3B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0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ro-RO"/>
              <a:t>Faceți clic pe pictogramă pentru a adăuga un tabel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3615" y="411479"/>
            <a:ext cx="7762689" cy="3291840"/>
          </a:xfrm>
        </p:spPr>
        <p:txBody>
          <a:bodyPr/>
          <a:lstStyle/>
          <a:p>
            <a:r>
              <a:rPr lang="en-US" dirty="0"/>
              <a:t>Recipe Search Engine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E1C6E4CE-15C5-614C-321A-77A9604C38E1}"/>
              </a:ext>
            </a:extLst>
          </p:cNvPr>
          <p:cNvSpPr txBox="1"/>
          <p:nvPr/>
        </p:nvSpPr>
        <p:spPr>
          <a:xfrm>
            <a:off x="4621138" y="4459973"/>
            <a:ext cx="60974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>
                    <a:lumMod val="75000"/>
                  </a:schemeClr>
                </a:solidFill>
              </a:rPr>
              <a:t>V</a:t>
            </a:r>
            <a:r>
              <a:rPr lang="ro-RO" sz="2600" b="1" dirty="0">
                <a:solidFill>
                  <a:schemeClr val="tx2">
                    <a:lumMod val="75000"/>
                  </a:schemeClr>
                </a:solidFill>
              </a:rPr>
              <a:t>ă</a:t>
            </a:r>
            <a:r>
              <a:rPr lang="en-US" sz="2600" b="1" dirty="0" err="1">
                <a:solidFill>
                  <a:schemeClr val="tx2">
                    <a:lumMod val="75000"/>
                  </a:schemeClr>
                </a:solidFill>
              </a:rPr>
              <a:t>dineanu</a:t>
            </a:r>
            <a:r>
              <a:rPr lang="en-US" sz="2600" b="1" dirty="0">
                <a:solidFill>
                  <a:schemeClr val="tx2">
                    <a:lumMod val="75000"/>
                  </a:schemeClr>
                </a:solidFill>
              </a:rPr>
              <a:t> Ioana-Maria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chemeClr val="tx2">
                    <a:lumMod val="75000"/>
                  </a:schemeClr>
                </a:solidFill>
              </a:rPr>
              <a:t>Special Topics in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pPr algn="just"/>
            <a:r>
              <a:rPr lang="en-US" sz="2600" dirty="0">
                <a:solidFill>
                  <a:schemeClr val="tx2">
                    <a:lumMod val="50000"/>
                  </a:schemeClr>
                </a:solidFill>
              </a:rPr>
              <a:t>Recipe Search Engine is an application that provides fast and accurate recipe results using simple keyword search</a:t>
            </a:r>
          </a:p>
          <a:p>
            <a:pPr algn="just"/>
            <a:r>
              <a:rPr lang="en-US" sz="2600" dirty="0">
                <a:solidFill>
                  <a:schemeClr val="tx2">
                    <a:lumMod val="50000"/>
                  </a:schemeClr>
                </a:solidFill>
              </a:rPr>
              <a:t>Users can find recipes by name, ingredients, cuisine, difficulty, cooking time or dietary preferences using a single search bar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B2C8-47B2-40A4-B1B6-2A35824E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FAA7-C42C-0CE8-EC7A-DBF73D050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57A1D-1CC3-690B-4DE8-DFACFADC22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tIns="457200">
            <a:normAutofit/>
          </a:bodyPr>
          <a:lstStyle/>
          <a:p>
            <a:pPr marL="0" indent="0" algn="just">
              <a:buNone/>
            </a:pPr>
            <a:r>
              <a:rPr lang="en-US" sz="2600" dirty="0">
                <a:solidFill>
                  <a:schemeClr val="tx2">
                    <a:lumMod val="50000"/>
                  </a:schemeClr>
                </a:solidFill>
              </a:rPr>
              <a:t>Users can:</a:t>
            </a:r>
          </a:p>
          <a:p>
            <a:pPr algn="just"/>
            <a:r>
              <a:rPr lang="en-US" sz="2600" dirty="0">
                <a:solidFill>
                  <a:schemeClr val="tx2">
                    <a:lumMod val="50000"/>
                  </a:schemeClr>
                </a:solidFill>
              </a:rPr>
              <a:t>Perform full-text searches across multiple recipe attributes using a single input</a:t>
            </a:r>
          </a:p>
          <a:p>
            <a:pPr algn="just"/>
            <a:r>
              <a:rPr lang="en-US" sz="2600" dirty="0">
                <a:solidFill>
                  <a:schemeClr val="tx2">
                    <a:lumMod val="50000"/>
                  </a:schemeClr>
                </a:solidFill>
              </a:rPr>
              <a:t>Browse search results and access detailed recipe information</a:t>
            </a:r>
          </a:p>
        </p:txBody>
      </p:sp>
    </p:spTree>
    <p:extLst>
      <p:ext uri="{BB962C8B-B14F-4D97-AF65-F5344CB8AC3E}">
        <p14:creationId xmlns:p14="http://schemas.microsoft.com/office/powerpoint/2010/main" val="4014239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CB42-A3B2-D63E-D9A3-79F936C8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A9B4-6BEE-1B6A-45C5-FADE2C35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pic>
        <p:nvPicPr>
          <p:cNvPr id="4" name="Imagine 3" descr="ASP MVC Logo | TutorialsEU">
            <a:extLst>
              <a:ext uri="{FF2B5EF4-FFF2-40B4-BE49-F238E27FC236}">
                <a16:creationId xmlns:a16="http://schemas.microsoft.com/office/drawing/2014/main" id="{1CA90073-6E8F-79B4-340D-70B507864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70" y="544770"/>
            <a:ext cx="4884309" cy="3028271"/>
          </a:xfrm>
          <a:prstGeom prst="rect">
            <a:avLst/>
          </a:prstGeom>
        </p:spPr>
      </p:pic>
      <p:pic>
        <p:nvPicPr>
          <p:cNvPr id="1028" name="Picture 4" descr="Swagger SVG and transparent PNG icons | TechIcons">
            <a:extLst>
              <a:ext uri="{FF2B5EF4-FFF2-40B4-BE49-F238E27FC236}">
                <a16:creationId xmlns:a16="http://schemas.microsoft.com/office/drawing/2014/main" id="{5152BF86-DDC2-C17C-63A1-A6B69A670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618" y="3573041"/>
            <a:ext cx="1780382" cy="178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ine 6" descr="Postman Icon SVG Vector &amp; PNG Free Download | UXWing">
            <a:extLst>
              <a:ext uri="{FF2B5EF4-FFF2-40B4-BE49-F238E27FC236}">
                <a16:creationId xmlns:a16="http://schemas.microsoft.com/office/drawing/2014/main" id="{680EF338-5D0F-20E5-9B70-04D5754F7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043" y="3593172"/>
            <a:ext cx="1780382" cy="1780382"/>
          </a:xfrm>
          <a:prstGeom prst="rect">
            <a:avLst/>
          </a:prstGeom>
        </p:spPr>
      </p:pic>
      <p:pic>
        <p:nvPicPr>
          <p:cNvPr id="8" name="Imagine 7" descr="Bootstrap (front-end framework) - Wikipedia">
            <a:extLst>
              <a:ext uri="{FF2B5EF4-FFF2-40B4-BE49-F238E27FC236}">
                <a16:creationId xmlns:a16="http://schemas.microsoft.com/office/drawing/2014/main" id="{7460BE29-017A-DFB9-E6BA-7F0A7FED4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468" y="3621851"/>
            <a:ext cx="2106840" cy="1680205"/>
          </a:xfrm>
          <a:prstGeom prst="rect">
            <a:avLst/>
          </a:prstGeom>
        </p:spPr>
      </p:pic>
      <p:pic>
        <p:nvPicPr>
          <p:cNvPr id="1030" name="Picture 6" descr="Elasticsearch Logo PNG Transparent &amp; SVG Vector - Freebie Supply">
            <a:extLst>
              <a:ext uri="{FF2B5EF4-FFF2-40B4-BE49-F238E27FC236}">
                <a16:creationId xmlns:a16="http://schemas.microsoft.com/office/drawing/2014/main" id="{F7617AD5-350B-C754-49EA-7CE35AB85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31" y="3457679"/>
            <a:ext cx="1895744" cy="189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22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A8D9-9AEC-5098-F30F-3F8E8CFC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4A58735-5494-884B-BC72-7272065A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Elasticsearch – Index &amp; Mapping</a:t>
            </a:r>
          </a:p>
        </p:txBody>
      </p:sp>
      <p:sp>
        <p:nvSpPr>
          <p:cNvPr id="5" name="Substituent conținut 2">
            <a:extLst>
              <a:ext uri="{FF2B5EF4-FFF2-40B4-BE49-F238E27FC236}">
                <a16:creationId xmlns:a16="http://schemas.microsoft.com/office/drawing/2014/main" id="{87DFDE5F-4CC4-1BC7-9632-561DB8F474F1}"/>
              </a:ext>
            </a:extLst>
          </p:cNvPr>
          <p:cNvSpPr txBox="1">
            <a:spLocks/>
          </p:cNvSpPr>
          <p:nvPr/>
        </p:nvSpPr>
        <p:spPr>
          <a:xfrm>
            <a:off x="594360" y="2554976"/>
            <a:ext cx="4490826" cy="36993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Recipes are stored in an Elasticsearch index called </a:t>
            </a:r>
            <a:r>
              <a:rPr lang="en-US" sz="2600" b="1" i="1" dirty="0">
                <a:solidFill>
                  <a:schemeClr val="tx2">
                    <a:lumMod val="50000"/>
                  </a:schemeClr>
                </a:solidFill>
              </a:rPr>
              <a:t>recipes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Each recipe is indexed as a document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All searchable fields are mapped as </a:t>
            </a:r>
            <a:r>
              <a:rPr lang="en-US" sz="2600" b="1" i="1" dirty="0">
                <a:solidFill>
                  <a:schemeClr val="tx2">
                    <a:lumMod val="50000"/>
                  </a:schemeClr>
                </a:solidFill>
              </a:rPr>
              <a:t>text</a:t>
            </a:r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 to support flexible keyword search</a:t>
            </a:r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05EA9C73-63B6-6CDE-7256-95B7D352F1F8}"/>
              </a:ext>
            </a:extLst>
          </p:cNvPr>
          <p:cNvSpPr txBox="1">
            <a:spLocks/>
          </p:cNvSpPr>
          <p:nvPr/>
        </p:nvSpPr>
        <p:spPr>
          <a:xfrm>
            <a:off x="5881898" y="2676525"/>
            <a:ext cx="4490826" cy="36993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3F58F41A-0289-02CB-AD5B-9BCFF76FC5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5" b="30080"/>
          <a:stretch>
            <a:fillRect/>
          </a:stretch>
        </p:blipFill>
        <p:spPr>
          <a:xfrm>
            <a:off x="5881898" y="2185973"/>
            <a:ext cx="4321863" cy="406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30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2899-D275-6FE7-A66A-BD663F81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27940EC-EFAA-4DAC-621D-DF10C263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Elasticsearch – Document Indexing </a:t>
            </a:r>
          </a:p>
        </p:txBody>
      </p:sp>
      <p:sp>
        <p:nvSpPr>
          <p:cNvPr id="5" name="Substituent conținut 2">
            <a:extLst>
              <a:ext uri="{FF2B5EF4-FFF2-40B4-BE49-F238E27FC236}">
                <a16:creationId xmlns:a16="http://schemas.microsoft.com/office/drawing/2014/main" id="{9CDC3563-04FC-7858-DEBD-098A70B63C86}"/>
              </a:ext>
            </a:extLst>
          </p:cNvPr>
          <p:cNvSpPr txBox="1">
            <a:spLocks/>
          </p:cNvSpPr>
          <p:nvPr/>
        </p:nvSpPr>
        <p:spPr>
          <a:xfrm>
            <a:off x="594360" y="2554976"/>
            <a:ext cx="4900832" cy="36993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Recipe data was added to Elasticsearch using the Bulk API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Multiple recipe documents were indexed efficiently in a single request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Postman was used create the index, configure mappings and insert data via the Elasticsearch REST API</a:t>
            </a:r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98AFF381-ED6A-191E-E71C-910F2BB0418E}"/>
              </a:ext>
            </a:extLst>
          </p:cNvPr>
          <p:cNvSpPr txBox="1">
            <a:spLocks/>
          </p:cNvSpPr>
          <p:nvPr/>
        </p:nvSpPr>
        <p:spPr>
          <a:xfrm>
            <a:off x="5881898" y="2676525"/>
            <a:ext cx="4490826" cy="36993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1C138B0-C69E-F9F5-6237-187404CF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4" r="39054" b="45261"/>
          <a:stretch>
            <a:fillRect/>
          </a:stretch>
        </p:blipFill>
        <p:spPr>
          <a:xfrm>
            <a:off x="5881898" y="2263277"/>
            <a:ext cx="4732266" cy="369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5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0A32958-B78B-3B8F-A58B-6DCF5893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4319471" cy="1494596"/>
          </a:xfrm>
        </p:spPr>
        <p:txBody>
          <a:bodyPr/>
          <a:lstStyle/>
          <a:p>
            <a:r>
              <a:rPr lang="en-US" dirty="0"/>
              <a:t>API Endpoints</a:t>
            </a:r>
          </a:p>
        </p:txBody>
      </p:sp>
      <p:sp>
        <p:nvSpPr>
          <p:cNvPr id="5" name="Substituent conținut 5">
            <a:extLst>
              <a:ext uri="{FF2B5EF4-FFF2-40B4-BE49-F238E27FC236}">
                <a16:creationId xmlns:a16="http://schemas.microsoft.com/office/drawing/2014/main" id="{BCAF16CD-E52A-3982-C1C5-FC559A852049}"/>
              </a:ext>
            </a:extLst>
          </p:cNvPr>
          <p:cNvSpPr txBox="1">
            <a:spLocks/>
          </p:cNvSpPr>
          <p:nvPr/>
        </p:nvSpPr>
        <p:spPr>
          <a:xfrm>
            <a:off x="594360" y="2676525"/>
            <a:ext cx="4874948" cy="34508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The application exposes REST API endpoints for searching and retrieving recipes.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Swagger provides an interactive interface for testing endpoints without external tools.</a:t>
            </a:r>
          </a:p>
        </p:txBody>
      </p:sp>
      <p:pic>
        <p:nvPicPr>
          <p:cNvPr id="6" name="Imagine 5" descr="O imagine care conține text, captură de ecran, număr, Font&#10;&#10;Conținutul generat de inteligența artificială poate fi incorect.">
            <a:extLst>
              <a:ext uri="{FF2B5EF4-FFF2-40B4-BE49-F238E27FC236}">
                <a16:creationId xmlns:a16="http://schemas.microsoft.com/office/drawing/2014/main" id="{8F3B1F07-2A75-7B55-13F7-E2537F270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460" y="1145068"/>
            <a:ext cx="462979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4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AE0E-9A84-0CAE-82AA-A0AB1384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498CA24-8B1E-7791-80B4-397DEC73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062987" cy="1494596"/>
          </a:xfrm>
        </p:spPr>
        <p:txBody>
          <a:bodyPr/>
          <a:lstStyle/>
          <a:p>
            <a:r>
              <a:rPr lang="en-US" dirty="0"/>
              <a:t>API Testing – Swagger &amp; Postman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9FF8CAE-C842-5561-A206-586CE3F567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32"/>
          <a:stretch>
            <a:fillRect/>
          </a:stretch>
        </p:blipFill>
        <p:spPr>
          <a:xfrm>
            <a:off x="594360" y="2401368"/>
            <a:ext cx="4114800" cy="4178503"/>
          </a:xfrm>
          <a:prstGeom prst="rect">
            <a:avLst/>
          </a:prstGeom>
        </p:spPr>
      </p:pic>
      <p:pic>
        <p:nvPicPr>
          <p:cNvPr id="8" name="Imagine 7" descr="O imagine care conține text, electronice, captură de ecran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94EF62F1-9922-8231-D2DA-C68CACCC5C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579"/>
          <a:stretch>
            <a:fillRect/>
          </a:stretch>
        </p:blipFill>
        <p:spPr>
          <a:xfrm>
            <a:off x="5524242" y="3058947"/>
            <a:ext cx="5420481" cy="3520924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55E6460C-EBB3-0833-DF3A-D7D7C7362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094" y="2663972"/>
            <a:ext cx="5484776" cy="39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9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u 10">
            <a:extLst>
              <a:ext uri="{FF2B5EF4-FFF2-40B4-BE49-F238E27FC236}">
                <a16:creationId xmlns:a16="http://schemas.microsoft.com/office/drawing/2014/main" id="{24B4A2AD-31D2-FFE2-92E3-0D3D0AE0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UI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7B48DAFF-FAEE-C02A-05D1-3F155FD446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3" t="6260" r="6853"/>
          <a:stretch>
            <a:fillRect/>
          </a:stretch>
        </p:blipFill>
        <p:spPr>
          <a:xfrm>
            <a:off x="6096000" y="677255"/>
            <a:ext cx="6113977" cy="5797272"/>
          </a:xfrm>
          <a:prstGeom prst="rect">
            <a:avLst/>
          </a:prstGeom>
        </p:spPr>
      </p:pic>
      <p:pic>
        <p:nvPicPr>
          <p:cNvPr id="10" name="Imagine 9" descr="O imagine care conține alimente, rețetă, text, Articole de gătit și produse de copt&#10;&#10;Conținutul generat de inteligența artificială poate fi incorect.">
            <a:extLst>
              <a:ext uri="{FF2B5EF4-FFF2-40B4-BE49-F238E27FC236}">
                <a16:creationId xmlns:a16="http://schemas.microsoft.com/office/drawing/2014/main" id="{6B717F00-71BC-216A-8291-894EE40A6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25624"/>
            <a:ext cx="5203971" cy="27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9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>
            <a:extLst>
              <a:ext uri="{FF2B5EF4-FFF2-40B4-BE49-F238E27FC236}">
                <a16:creationId xmlns:a16="http://schemas.microsoft.com/office/drawing/2014/main" id="{093C20BA-E189-4AAA-3832-52F0D067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Key Points</a:t>
            </a:r>
          </a:p>
        </p:txBody>
      </p:sp>
      <p:sp>
        <p:nvSpPr>
          <p:cNvPr id="5" name="Substituent conținut 4">
            <a:extLst>
              <a:ext uri="{FF2B5EF4-FFF2-40B4-BE49-F238E27FC236}">
                <a16:creationId xmlns:a16="http://schemas.microsoft.com/office/drawing/2014/main" id="{AB494484-36F5-70DD-A51A-E7F5CAB17D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2007"/>
            <a:ext cx="7810500" cy="4199003"/>
          </a:xfrm>
        </p:spPr>
        <p:txBody>
          <a:bodyPr>
            <a:noAutofit/>
          </a:bodyPr>
          <a:lstStyle/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Recipe Search Engine finds recipes using a single search bar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Elasticsearch provides efficient full-text search across multiple recipe fields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REST API makes recipe data accessible and easy to test with Swagger and Postman</a:t>
            </a:r>
          </a:p>
          <a:p>
            <a:pPr algn="just"/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This application demonstrates how Elasticsearch can deliver fast and relevant search results </a:t>
            </a:r>
            <a:r>
              <a:rPr lang="en-US" sz="2600" b="1">
                <a:solidFill>
                  <a:schemeClr val="tx2">
                    <a:lumMod val="50000"/>
                  </a:schemeClr>
                </a:solidFill>
              </a:rPr>
              <a:t>in a simple,  </a:t>
            </a:r>
            <a:r>
              <a:rPr lang="en-US" sz="2600" b="1" dirty="0">
                <a:solidFill>
                  <a:schemeClr val="tx2">
                    <a:lumMod val="50000"/>
                  </a:schemeClr>
                </a:solidFill>
              </a:rPr>
              <a:t>real application</a:t>
            </a:r>
          </a:p>
        </p:txBody>
      </p:sp>
    </p:spTree>
    <p:extLst>
      <p:ext uri="{BB962C8B-B14F-4D97-AF65-F5344CB8AC3E}">
        <p14:creationId xmlns:p14="http://schemas.microsoft.com/office/powerpoint/2010/main" val="11420031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121</TotalTime>
  <Words>247</Words>
  <Application>Microsoft Office PowerPoint</Application>
  <PresentationFormat>Ecran lat</PresentationFormat>
  <Paragraphs>33</Paragraphs>
  <Slides>10</Slides>
  <Notes>4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Custom</vt:lpstr>
      <vt:lpstr>Recipe Search Engine</vt:lpstr>
      <vt:lpstr>Project Description</vt:lpstr>
      <vt:lpstr>Use Cases</vt:lpstr>
      <vt:lpstr>Technologies Used</vt:lpstr>
      <vt:lpstr>Elasticsearch – Index &amp; Mapping</vt:lpstr>
      <vt:lpstr>Elasticsearch – Document Indexing </vt:lpstr>
      <vt:lpstr>API Endpoints</vt:lpstr>
      <vt:lpstr>API Testing – Swagger &amp; Postman</vt:lpstr>
      <vt:lpstr>Application UI</vt:lpstr>
      <vt:lpstr>Conclusion &amp; Key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Ioana Vadineanu</dc:creator>
  <cp:lastModifiedBy>Ioana Vadineanu</cp:lastModifiedBy>
  <cp:revision>7</cp:revision>
  <dcterms:created xsi:type="dcterms:W3CDTF">2025-12-17T12:56:08Z</dcterms:created>
  <dcterms:modified xsi:type="dcterms:W3CDTF">2025-12-17T14:57:20Z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